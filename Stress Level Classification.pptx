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League Gothic" charset="1" panose="00000500000000000000"/>
      <p:regular r:id="rId15"/>
    </p:embeddedFont>
    <p:embeddedFont>
      <p:font typeface="Muli" charset="1" panose="00000500000000000000"/>
      <p:regular r:id="rId16"/>
    </p:embeddedFont>
    <p:embeddedFont>
      <p:font typeface="Muli Bold" charset="1" panose="000008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14586" y="393431"/>
            <a:ext cx="13658828" cy="450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690"/>
              </a:lnSpc>
            </a:pPr>
            <a:r>
              <a:rPr lang="en-US" sz="15383">
                <a:solidFill>
                  <a:srgbClr val="F4D314"/>
                </a:solidFill>
                <a:latin typeface="League Gothic"/>
                <a:ea typeface="League Gothic"/>
                <a:cs typeface="League Gothic"/>
                <a:sym typeface="League Gothic"/>
              </a:rPr>
              <a:t>STRESS LEVEL CLASSIFICATION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11958" y="5105400"/>
            <a:ext cx="5264084" cy="297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2"/>
              </a:lnSpc>
            </a:pPr>
            <a:r>
              <a:rPr lang="en-US" sz="1732" spc="365">
                <a:solidFill>
                  <a:srgbClr val="F4D314"/>
                </a:solidFill>
                <a:latin typeface="Muli"/>
                <a:ea typeface="Muli"/>
                <a:cs typeface="Muli"/>
                <a:sym typeface="Muli"/>
              </a:rPr>
              <a:t>NLP &amp; MACHINE LEARNING PROJECT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53633" y="5917316"/>
            <a:ext cx="8380734" cy="1281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13"/>
              </a:lnSpc>
            </a:pPr>
            <a:r>
              <a:rPr lang="en-US" sz="3595" spc="539">
                <a:solidFill>
                  <a:srgbClr val="F4D314"/>
                </a:solidFill>
                <a:latin typeface="Muli"/>
                <a:ea typeface="Muli"/>
                <a:cs typeface="Muli"/>
                <a:sym typeface="Muli"/>
              </a:rPr>
              <a:t>ANALYZING TEXT TO DETECT LOW, MEDIUM &amp; HIGH STRESS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189460" y="7446836"/>
            <a:ext cx="6867018" cy="2741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b="true" sz="2699">
                <a:solidFill>
                  <a:srgbClr val="F4D314"/>
                </a:solidFill>
                <a:latin typeface="Muli Bold"/>
                <a:ea typeface="Muli Bold"/>
                <a:cs typeface="Muli Bold"/>
                <a:sym typeface="Muli Bold"/>
              </a:rPr>
              <a:t>  RANIA OSSAMA 231001334</a:t>
            </a:r>
          </a:p>
          <a:p>
            <a:pPr algn="ctr">
              <a:lnSpc>
                <a:spcPts val="3104"/>
              </a:lnSpc>
            </a:pPr>
            <a:r>
              <a:rPr lang="en-US" sz="2699">
                <a:solidFill>
                  <a:srgbClr val="F4D314"/>
                </a:solidFill>
                <a:latin typeface="Muli"/>
                <a:ea typeface="Muli"/>
                <a:cs typeface="Muli"/>
                <a:sym typeface="Muli"/>
              </a:rPr>
              <a:t>            </a:t>
            </a:r>
            <a:r>
              <a:rPr lang="en-US" b="true" sz="2699">
                <a:solidFill>
                  <a:srgbClr val="F4D314"/>
                </a:solidFill>
                <a:latin typeface="Muli Bold"/>
                <a:ea typeface="Muli Bold"/>
                <a:cs typeface="Muli Bold"/>
                <a:sym typeface="Muli Bold"/>
              </a:rPr>
              <a:t>Maryam Mahmoud 231000399</a:t>
            </a:r>
          </a:p>
          <a:p>
            <a:pPr algn="ctr">
              <a:lnSpc>
                <a:spcPts val="3104"/>
              </a:lnSpc>
            </a:pPr>
            <a:r>
              <a:rPr lang="en-US" b="true" sz="2699">
                <a:solidFill>
                  <a:srgbClr val="F4D314"/>
                </a:solidFill>
                <a:latin typeface="Muli Bold"/>
                <a:ea typeface="Muli Bold"/>
                <a:cs typeface="Muli Bold"/>
                <a:sym typeface="Muli Bold"/>
              </a:rPr>
              <a:t>LINA ASHRAF 231001820</a:t>
            </a:r>
          </a:p>
          <a:p>
            <a:pPr algn="ctr">
              <a:lnSpc>
                <a:spcPts val="3104"/>
              </a:lnSpc>
            </a:pPr>
            <a:r>
              <a:rPr lang="en-US" b="true" sz="2699">
                <a:solidFill>
                  <a:srgbClr val="F4D314"/>
                </a:solidFill>
                <a:latin typeface="Muli Bold"/>
                <a:ea typeface="Muli Bold"/>
                <a:cs typeface="Muli Bold"/>
                <a:sym typeface="Muli Bold"/>
              </a:rPr>
              <a:t>   </a:t>
            </a:r>
            <a:r>
              <a:rPr lang="en-US" b="true" sz="2699">
                <a:solidFill>
                  <a:srgbClr val="F4D314"/>
                </a:solidFill>
                <a:latin typeface="Muli Bold"/>
                <a:ea typeface="Muli Bold"/>
                <a:cs typeface="Muli Bold"/>
                <a:sym typeface="Muli Bold"/>
              </a:rPr>
              <a:t>Dalia Nassar 231001310</a:t>
            </a:r>
          </a:p>
          <a:p>
            <a:pPr algn="ctr">
              <a:lnSpc>
                <a:spcPts val="3104"/>
              </a:lnSpc>
            </a:pPr>
            <a:r>
              <a:rPr lang="en-US" sz="2699">
                <a:solidFill>
                  <a:srgbClr val="F4D314"/>
                </a:solidFill>
                <a:latin typeface="Muli"/>
                <a:ea typeface="Muli"/>
                <a:cs typeface="Muli"/>
                <a:sym typeface="Muli"/>
              </a:rPr>
              <a:t>        </a:t>
            </a:r>
            <a:r>
              <a:rPr lang="en-US" b="true" sz="2699">
                <a:solidFill>
                  <a:srgbClr val="F4D314"/>
                </a:solidFill>
                <a:latin typeface="Muli Bold"/>
                <a:ea typeface="Muli Bold"/>
                <a:cs typeface="Muli Bold"/>
                <a:sym typeface="Muli Bold"/>
              </a:rPr>
              <a:t>Youmna Medhat 231000762</a:t>
            </a:r>
          </a:p>
          <a:p>
            <a:pPr algn="ctr">
              <a:lnSpc>
                <a:spcPts val="3104"/>
              </a:lnSpc>
            </a:pPr>
          </a:p>
          <a:p>
            <a:pPr algn="ctr">
              <a:lnSpc>
                <a:spcPts val="310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10166" y="656107"/>
            <a:ext cx="7655641" cy="1217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13"/>
              </a:lnSpc>
            </a:pPr>
            <a:r>
              <a:rPr lang="en-US" sz="8185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 DATASET COLLECTION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0166" y="2100263"/>
            <a:ext cx="7911427" cy="205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9"/>
              </a:lnSpc>
            </a:pPr>
            <a:r>
              <a:rPr lang="en-US" sz="269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Data was collected from three different sources:</a:t>
            </a:r>
          </a:p>
          <a:p>
            <a:pPr algn="l" marL="582928" indent="-291464" lvl="1">
              <a:lnSpc>
                <a:spcPts val="3509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 </a:t>
            </a:r>
            <a:r>
              <a:rPr lang="en-US" sz="269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YouTube comments (web scraping)</a:t>
            </a:r>
          </a:p>
          <a:p>
            <a:pPr algn="l" marL="582928" indent="-291464" lvl="1">
              <a:lnSpc>
                <a:spcPts val="3509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Reddit dataset (Dreaddit)</a:t>
            </a:r>
          </a:p>
          <a:p>
            <a:pPr algn="l" marL="582928" indent="-291464" lvl="1">
              <a:lnSpc>
                <a:spcPts val="3509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GoEmotions dataset (Google)</a:t>
            </a:r>
          </a:p>
          <a:p>
            <a:pPr algn="l">
              <a:lnSpc>
                <a:spcPts val="247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1094057" y="1558291"/>
            <a:ext cx="5505212" cy="82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b="true" sz="5599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DATA SOURCES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42637" y="2982744"/>
            <a:ext cx="7252716" cy="5820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9"/>
              </a:lnSpc>
            </a:pPr>
            <a:r>
              <a:rPr lang="en-US" sz="2946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 We collected approximately 15,000 comments</a:t>
            </a:r>
          </a:p>
          <a:p>
            <a:pPr algn="ctr">
              <a:lnSpc>
                <a:spcPts val="3829"/>
              </a:lnSpc>
            </a:pPr>
          </a:p>
          <a:p>
            <a:pPr algn="ctr">
              <a:lnSpc>
                <a:spcPts val="3829"/>
              </a:lnSpc>
            </a:pPr>
            <a:r>
              <a:rPr lang="en-US" sz="2946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Comments were labeled into:</a:t>
            </a:r>
          </a:p>
          <a:p>
            <a:pPr algn="ctr" marL="636056" indent="-318028" lvl="1">
              <a:lnSpc>
                <a:spcPts val="3829"/>
              </a:lnSpc>
              <a:buFont typeface="Arial"/>
              <a:buChar char="•"/>
            </a:pPr>
            <a:r>
              <a:rPr lang="en-US" sz="2946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Low sentiment</a:t>
            </a:r>
          </a:p>
          <a:p>
            <a:pPr algn="ctr" marL="636056" indent="-318028" lvl="1">
              <a:lnSpc>
                <a:spcPts val="3829"/>
              </a:lnSpc>
              <a:buFont typeface="Arial"/>
              <a:buChar char="•"/>
            </a:pPr>
            <a:r>
              <a:rPr lang="en-US" sz="2946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Medium sentiment</a:t>
            </a:r>
          </a:p>
          <a:p>
            <a:pPr algn="ctr" marL="636056" indent="-318028" lvl="1">
              <a:lnSpc>
                <a:spcPts val="3829"/>
              </a:lnSpc>
              <a:buFont typeface="Arial"/>
              <a:buChar char="•"/>
            </a:pPr>
            <a:r>
              <a:rPr lang="en-US" sz="2946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High sentiment</a:t>
            </a:r>
          </a:p>
          <a:p>
            <a:pPr algn="ctr">
              <a:lnSpc>
                <a:spcPts val="3829"/>
              </a:lnSpc>
            </a:pPr>
          </a:p>
          <a:p>
            <a:pPr algn="ctr">
              <a:lnSpc>
                <a:spcPts val="3829"/>
              </a:lnSpc>
            </a:pPr>
            <a:r>
              <a:rPr lang="en-US" sz="2946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Final cleaned YouTube dataset: 21,000 samples after balancing + merging</a:t>
            </a:r>
          </a:p>
          <a:p>
            <a:pPr algn="ctr">
              <a:lnSpc>
                <a:spcPts val="3829"/>
              </a:lnSpc>
            </a:pPr>
          </a:p>
          <a:p>
            <a:pPr algn="ctr">
              <a:lnSpc>
                <a:spcPts val="3829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610166" y="4812435"/>
            <a:ext cx="2297536" cy="1934066"/>
            <a:chOff x="0" y="0"/>
            <a:chExt cx="711640" cy="5990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1640" cy="599059"/>
            </a:xfrm>
            <a:custGeom>
              <a:avLst/>
              <a:gdLst/>
              <a:ahLst/>
              <a:cxnLst/>
              <a:rect r="r" b="b" t="t" l="l"/>
              <a:pathLst>
                <a:path h="599059" w="711640">
                  <a:moveTo>
                    <a:pt x="355820" y="0"/>
                  </a:moveTo>
                  <a:cubicBezTo>
                    <a:pt x="159306" y="0"/>
                    <a:pt x="0" y="134104"/>
                    <a:pt x="0" y="299529"/>
                  </a:cubicBezTo>
                  <a:cubicBezTo>
                    <a:pt x="0" y="464955"/>
                    <a:pt x="159306" y="599059"/>
                    <a:pt x="355820" y="599059"/>
                  </a:cubicBezTo>
                  <a:cubicBezTo>
                    <a:pt x="552334" y="599059"/>
                    <a:pt x="711640" y="464955"/>
                    <a:pt x="711640" y="299529"/>
                  </a:cubicBezTo>
                  <a:cubicBezTo>
                    <a:pt x="711640" y="134104"/>
                    <a:pt x="552334" y="0"/>
                    <a:pt x="355820" y="0"/>
                  </a:cubicBezTo>
                  <a:close/>
                </a:path>
              </a:pathLst>
            </a:custGeom>
            <a:solidFill>
              <a:srgbClr val="F4D31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66716" y="-48613"/>
              <a:ext cx="578208" cy="591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6380"/>
                </a:lnSpc>
              </a:pPr>
              <a:r>
                <a:rPr lang="en-US" b="true" sz="440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Reddit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54379" y="7401908"/>
            <a:ext cx="2624131" cy="2101578"/>
            <a:chOff x="0" y="0"/>
            <a:chExt cx="812800" cy="6509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650944"/>
            </a:xfrm>
            <a:custGeom>
              <a:avLst/>
              <a:gdLst/>
              <a:ahLst/>
              <a:cxnLst/>
              <a:rect r="r" b="b" t="t" l="l"/>
              <a:pathLst>
                <a:path h="650944" w="812800">
                  <a:moveTo>
                    <a:pt x="406400" y="0"/>
                  </a:moveTo>
                  <a:cubicBezTo>
                    <a:pt x="181951" y="0"/>
                    <a:pt x="0" y="145719"/>
                    <a:pt x="0" y="325472"/>
                  </a:cubicBezTo>
                  <a:cubicBezTo>
                    <a:pt x="0" y="505225"/>
                    <a:pt x="181951" y="650944"/>
                    <a:pt x="406400" y="650944"/>
                  </a:cubicBezTo>
                  <a:cubicBezTo>
                    <a:pt x="630849" y="650944"/>
                    <a:pt x="812800" y="505225"/>
                    <a:pt x="812800" y="325472"/>
                  </a:cubicBezTo>
                  <a:cubicBezTo>
                    <a:pt x="812800" y="14571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D31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76"/>
              <a:ext cx="660400" cy="58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60"/>
                </a:lnSpc>
              </a:pPr>
              <a:r>
                <a:rPr lang="en-US" b="true" sz="280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GoEmotions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58934" y="5439267"/>
            <a:ext cx="8616326" cy="90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79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 Original dataset size: 3,500 samples</a:t>
            </a:r>
          </a:p>
          <a:p>
            <a:pPr algn="ctr">
              <a:lnSpc>
                <a:spcPts val="363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477731" y="7797357"/>
            <a:ext cx="8616326" cy="2279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79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Original dataset size: 50,000 samples</a:t>
            </a:r>
          </a:p>
          <a:p>
            <a:pPr algn="ctr">
              <a:lnSpc>
                <a:spcPts val="3639"/>
              </a:lnSpc>
            </a:pPr>
            <a:r>
              <a:rPr lang="en-US" sz="279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We took a balanced sample to match other datasets</a:t>
            </a:r>
          </a:p>
          <a:p>
            <a:pPr algn="ctr">
              <a:lnSpc>
                <a:spcPts val="3639"/>
              </a:lnSpc>
            </a:pPr>
          </a:p>
          <a:p>
            <a:pPr algn="ctr">
              <a:lnSpc>
                <a:spcPts val="363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48981" y="1515203"/>
            <a:ext cx="7655641" cy="1217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13"/>
              </a:lnSpc>
            </a:pPr>
            <a:r>
              <a:rPr lang="en-US" sz="8185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 PREPROCESSING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280412"/>
            <a:ext cx="10378574" cy="328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55644" indent="-377822" lvl="1">
              <a:lnSpc>
                <a:spcPts val="454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 Removed noise and duplicates</a:t>
            </a:r>
          </a:p>
          <a:p>
            <a:pPr algn="ctr" marL="755644" indent="-377822" lvl="1">
              <a:lnSpc>
                <a:spcPts val="454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Cleaned text (special characters, links, emojis )</a:t>
            </a:r>
          </a:p>
          <a:p>
            <a:pPr algn="ctr" marL="755644" indent="-377822" lvl="1">
              <a:lnSpc>
                <a:spcPts val="454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Normalized labels</a:t>
            </a:r>
          </a:p>
          <a:p>
            <a:pPr algn="ctr" marL="755644" indent="-377822" lvl="1">
              <a:lnSpc>
                <a:spcPts val="454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Final dataset size reduced to 20,000 samples</a:t>
            </a:r>
          </a:p>
          <a:p>
            <a:pPr algn="ctr">
              <a:lnSpc>
                <a:spcPts val="4549"/>
              </a:lnSpc>
            </a:pPr>
          </a:p>
          <a:p>
            <a:pPr algn="l">
              <a:lnSpc>
                <a:spcPts val="350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45885" y="3580061"/>
            <a:ext cx="2624131" cy="262413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D31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981"/>
                </a:lnSpc>
              </a:pPr>
              <a:r>
                <a:rPr lang="en-US" b="true" sz="4125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SVM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589761" y="3580061"/>
            <a:ext cx="2624131" cy="262413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D31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981"/>
                </a:lnSpc>
              </a:pPr>
              <a:r>
                <a:rPr lang="en-US" b="true" sz="4125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BERT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609028" y="3580061"/>
            <a:ext cx="2624131" cy="262413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D31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981"/>
                </a:lnSpc>
              </a:pPr>
              <a:r>
                <a:rPr lang="en-US" b="true" sz="4125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LSTM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581045" y="3580061"/>
            <a:ext cx="2624131" cy="262413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D31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981"/>
                </a:lnSpc>
              </a:pPr>
              <a:r>
                <a:rPr lang="en-US" b="true" sz="4125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M-BERT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609028" y="778974"/>
            <a:ext cx="5985375" cy="1217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13"/>
              </a:lnSpc>
            </a:pPr>
            <a:r>
              <a:rPr lang="en-US" sz="8185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MODELS EVALUATED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45885" y="7075702"/>
            <a:ext cx="2675503" cy="33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45"/>
              </a:lnSpc>
            </a:pPr>
            <a:r>
              <a:rPr lang="en-US" sz="2300">
                <a:solidFill>
                  <a:srgbClr val="F4D314"/>
                </a:solidFill>
                <a:latin typeface="Muli"/>
                <a:ea typeface="Muli"/>
                <a:cs typeface="Muli"/>
                <a:sym typeface="Muli"/>
              </a:rPr>
              <a:t>SUPPORT VECTOR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89761" y="7075702"/>
            <a:ext cx="2675503" cy="33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45"/>
              </a:lnSpc>
            </a:pPr>
            <a:r>
              <a:rPr lang="en-US" sz="2300">
                <a:solidFill>
                  <a:srgbClr val="F4D314"/>
                </a:solidFill>
                <a:latin typeface="Muli"/>
                <a:ea typeface="Muli"/>
                <a:cs typeface="Muli"/>
                <a:sym typeface="Muli"/>
              </a:rPr>
              <a:t>TRANSFORMER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402695" y="7075702"/>
            <a:ext cx="3036798" cy="33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45"/>
              </a:lnSpc>
            </a:pPr>
            <a:r>
              <a:rPr lang="en-US" sz="2300">
                <a:solidFill>
                  <a:srgbClr val="F4D314"/>
                </a:solidFill>
                <a:latin typeface="Muli"/>
                <a:ea typeface="Muli"/>
                <a:cs typeface="Muli"/>
                <a:sym typeface="Muli"/>
              </a:rPr>
              <a:t>DEEP LEARNING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417788" y="7075702"/>
            <a:ext cx="3036798" cy="33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45"/>
              </a:lnSpc>
            </a:pPr>
            <a:r>
              <a:rPr lang="en-US" sz="2300">
                <a:solidFill>
                  <a:srgbClr val="F4D314"/>
                </a:solidFill>
                <a:latin typeface="Muli"/>
                <a:ea typeface="Muli"/>
                <a:cs typeface="Muli"/>
                <a:sym typeface="Muli"/>
              </a:rPr>
              <a:t>MENTAL-BERT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609028" y="7863075"/>
            <a:ext cx="2698394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10"/>
              </a:lnSpc>
            </a:pPr>
            <a:r>
              <a:rPr lang="en-US" sz="17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Recurrent neural network with memory cells for sequence modeling.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45885" y="8006603"/>
            <a:ext cx="2698394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10"/>
              </a:lnSpc>
            </a:pPr>
            <a:r>
              <a:rPr lang="en-US" sz="17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Traditional ML with TF-IDF vectorization for baseline comparison.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89761" y="8006603"/>
            <a:ext cx="2698394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10"/>
              </a:lnSpc>
            </a:pPr>
            <a:r>
              <a:rPr lang="en-US" sz="17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Pre-trained language model with contextual embeddings.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506782" y="8006603"/>
            <a:ext cx="2698394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10"/>
              </a:lnSpc>
            </a:pPr>
            <a:r>
              <a:rPr lang="en-US" sz="17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Domain-specific BERT fine-tuned for mental health text.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154437" y="3681607"/>
            <a:ext cx="4011901" cy="2624131"/>
            <a:chOff x="0" y="0"/>
            <a:chExt cx="124264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426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42649">
                  <a:moveTo>
                    <a:pt x="621324" y="0"/>
                  </a:moveTo>
                  <a:cubicBezTo>
                    <a:pt x="278176" y="0"/>
                    <a:pt x="0" y="181951"/>
                    <a:pt x="0" y="406400"/>
                  </a:cubicBezTo>
                  <a:cubicBezTo>
                    <a:pt x="0" y="630849"/>
                    <a:pt x="278176" y="812800"/>
                    <a:pt x="621324" y="812800"/>
                  </a:cubicBezTo>
                  <a:cubicBezTo>
                    <a:pt x="964472" y="812800"/>
                    <a:pt x="1242649" y="630849"/>
                    <a:pt x="1242649" y="406400"/>
                  </a:cubicBezTo>
                  <a:cubicBezTo>
                    <a:pt x="1242649" y="181951"/>
                    <a:pt x="964472" y="0"/>
                    <a:pt x="621324" y="0"/>
                  </a:cubicBezTo>
                  <a:close/>
                </a:path>
              </a:pathLst>
            </a:custGeom>
            <a:solidFill>
              <a:srgbClr val="F4D31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16498" y="-19050"/>
              <a:ext cx="1009652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655"/>
                </a:lnSpc>
              </a:pPr>
              <a:r>
                <a:rPr lang="en-US" sz="3900" b="true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Logistic</a:t>
              </a:r>
            </a:p>
            <a:p>
              <a:pPr algn="ctr" marL="0" indent="0" lvl="0">
                <a:lnSpc>
                  <a:spcPts val="5655"/>
                </a:lnSpc>
              </a:pPr>
              <a:r>
                <a:rPr lang="en-US" b="true" sz="390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Regression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998424" y="3681607"/>
            <a:ext cx="3901761" cy="2624131"/>
            <a:chOff x="0" y="0"/>
            <a:chExt cx="1208534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8534" cy="812800"/>
            </a:xfrm>
            <a:custGeom>
              <a:avLst/>
              <a:gdLst/>
              <a:ahLst/>
              <a:cxnLst/>
              <a:rect r="r" b="b" t="t" l="l"/>
              <a:pathLst>
                <a:path h="812800" w="1208534">
                  <a:moveTo>
                    <a:pt x="604267" y="0"/>
                  </a:moveTo>
                  <a:cubicBezTo>
                    <a:pt x="270539" y="0"/>
                    <a:pt x="0" y="181951"/>
                    <a:pt x="0" y="406400"/>
                  </a:cubicBezTo>
                  <a:cubicBezTo>
                    <a:pt x="0" y="630849"/>
                    <a:pt x="270539" y="812800"/>
                    <a:pt x="604267" y="812800"/>
                  </a:cubicBezTo>
                  <a:cubicBezTo>
                    <a:pt x="937994" y="812800"/>
                    <a:pt x="1208534" y="630849"/>
                    <a:pt x="1208534" y="406400"/>
                  </a:cubicBezTo>
                  <a:cubicBezTo>
                    <a:pt x="1208534" y="181951"/>
                    <a:pt x="937994" y="0"/>
                    <a:pt x="604267" y="0"/>
                  </a:cubicBezTo>
                  <a:close/>
                </a:path>
              </a:pathLst>
            </a:custGeom>
            <a:solidFill>
              <a:srgbClr val="F4D31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13300" y="-28575"/>
              <a:ext cx="981934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6959"/>
                </a:lnSpc>
              </a:pPr>
              <a:r>
                <a:rPr lang="en-US" b="true" sz="480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DistilBERT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597684" y="6892796"/>
            <a:ext cx="5125406" cy="278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85"/>
              </a:lnSpc>
            </a:pPr>
            <a:r>
              <a:rPr lang="en-US" sz="1900">
                <a:solidFill>
                  <a:srgbClr val="F4D314"/>
                </a:solidFill>
                <a:latin typeface="Muli"/>
                <a:ea typeface="Muli"/>
                <a:cs typeface="Muli"/>
                <a:sym typeface="Muli"/>
              </a:rPr>
              <a:t> MACHINE LEARNING.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11553" y="6772940"/>
            <a:ext cx="2675503" cy="33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45"/>
              </a:lnSpc>
            </a:pPr>
            <a:r>
              <a:rPr lang="en-US" sz="2300">
                <a:solidFill>
                  <a:srgbClr val="F4D314"/>
                </a:solidFill>
                <a:latin typeface="Muli"/>
                <a:ea typeface="Muli"/>
                <a:cs typeface="Muli"/>
                <a:sym typeface="Muli"/>
              </a:rPr>
              <a:t> TRANSFORMER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007261" y="7697658"/>
            <a:ext cx="4038467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10"/>
              </a:lnSpc>
            </a:pPr>
            <a:r>
              <a:rPr lang="en-US" sz="17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  Traditional ML model used as a baseline with TF-IDF features for fast and simple classification.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70710" y="7559546"/>
            <a:ext cx="4157188" cy="109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10"/>
              </a:lnSpc>
            </a:pPr>
            <a:r>
              <a:rPr lang="en-US" sz="17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Lightweight transformer model that preserves BERT performance while reducing computation cost and training time.</a:t>
            </a:r>
            <a:r>
              <a:rPr lang="en-US" sz="17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22183" y="991719"/>
            <a:ext cx="5985375" cy="1217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13"/>
              </a:lnSpc>
            </a:pPr>
            <a:r>
              <a:rPr lang="en-US" sz="8185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MODELS EVALUATED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42073" y="1222569"/>
            <a:ext cx="7655641" cy="1217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13"/>
              </a:lnSpc>
            </a:pPr>
            <a:r>
              <a:rPr lang="en-US" sz="8185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MODEL COMPARISON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863069" y="3502941"/>
            <a:ext cx="2624131" cy="262413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D31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6959"/>
                </a:lnSpc>
              </a:pPr>
              <a:r>
                <a:rPr lang="en-US" b="true" sz="480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SVM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657455" y="6644356"/>
            <a:ext cx="4224877" cy="33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45"/>
              </a:lnSpc>
            </a:pPr>
            <a:r>
              <a:rPr lang="en-US" sz="2300">
                <a:solidFill>
                  <a:srgbClr val="F4D314"/>
                </a:solidFill>
                <a:latin typeface="Muli"/>
                <a:ea typeface="Muli"/>
                <a:cs typeface="Muli"/>
                <a:sym typeface="Muli"/>
              </a:rPr>
              <a:t>TRADITIONAL ML APPROACH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49500" y="7180776"/>
            <a:ext cx="5840786" cy="1369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10"/>
              </a:lnSpc>
            </a:pPr>
            <a:r>
              <a:rPr lang="en-US" sz="17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Support Vector Machine with TF-IDF vectorization represents the traditional machine learning approach. This method transforms text into numerical features based on term frequency and inverse document frequency, then applies SVM for multi-class stress level classification.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612303" y="3502941"/>
            <a:ext cx="2624131" cy="262413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D31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6959"/>
                </a:lnSpc>
              </a:pPr>
              <a:r>
                <a:rPr lang="en-US" b="true" sz="480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BERT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53257" y="6644356"/>
            <a:ext cx="4224877" cy="33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45"/>
              </a:lnSpc>
            </a:pPr>
            <a:r>
              <a:rPr lang="en-US" sz="2300">
                <a:solidFill>
                  <a:srgbClr val="F4D314"/>
                </a:solidFill>
                <a:latin typeface="Muli"/>
                <a:ea typeface="Muli"/>
                <a:cs typeface="Muli"/>
                <a:sym typeface="Muli"/>
              </a:rPr>
              <a:t>DEEP LEARNING APPROACH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97714" y="7180776"/>
            <a:ext cx="5840786" cy="1369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10"/>
              </a:lnSpc>
            </a:pPr>
            <a:r>
              <a:rPr lang="en-US" sz="17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Deep learning models including LSTM, BERT, and Mental-BERT leverage neural networks to capture complex patterns in text. These models understand contextual relationships and semantic meaning, with Mental-BERT specifically fine-tuned for mental health text classification.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58325" y="1663131"/>
            <a:ext cx="5985375" cy="1217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13"/>
              </a:lnSpc>
            </a:pPr>
            <a:r>
              <a:rPr lang="en-US" sz="8185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MODEL RESULTS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77223" y="3045402"/>
            <a:ext cx="6973228" cy="6466999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 rot="0">
            <a:off x="10029062" y="3626504"/>
            <a:ext cx="2069123" cy="206912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D31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6090"/>
                </a:lnSpc>
              </a:pPr>
              <a:r>
                <a:rPr lang="en-US" b="true" sz="420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89.2%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485453" y="3904392"/>
            <a:ext cx="4164850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5"/>
              </a:lnSpc>
            </a:pPr>
            <a:r>
              <a:rPr lang="en-US" sz="2100">
                <a:solidFill>
                  <a:srgbClr val="F4D314"/>
                </a:solidFill>
                <a:latin typeface="Muli"/>
                <a:ea typeface="Muli"/>
                <a:cs typeface="Muli"/>
                <a:sym typeface="Muli"/>
              </a:rPr>
              <a:t>BEST ACCURACY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29062" y="6588465"/>
            <a:ext cx="4719455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5"/>
              </a:lnSpc>
            </a:pPr>
            <a:r>
              <a:rPr lang="en-US" sz="2100">
                <a:solidFill>
                  <a:srgbClr val="F4D314"/>
                </a:solidFill>
                <a:latin typeface="Muli"/>
                <a:ea typeface="Muli"/>
                <a:cs typeface="Muli"/>
                <a:sym typeface="Muli"/>
              </a:rPr>
              <a:t>MENTAL-BERT MODEL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85453" y="4501434"/>
            <a:ext cx="3571733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Mental-BERT achieved the highest classification accuracy across all stress levels.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29062" y="7072803"/>
            <a:ext cx="6214224" cy="15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Stress Level Distribution: The dataset was classified into three categories - Low (35%), Medium (42%), and High (23%) stress levels. Mental-BERT outperformed SVM, LSTM, and standard BERT models in accurately distinguishing between these stress categories.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470272" y="3894867"/>
            <a:ext cx="9043427" cy="9043427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9613966" y="1978015"/>
            <a:ext cx="6715709" cy="49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059"/>
              </a:lnSpc>
            </a:pPr>
            <a:r>
              <a:rPr lang="en-US" sz="2799" spc="419">
                <a:solidFill>
                  <a:srgbClr val="F4D314"/>
                </a:solidFill>
                <a:latin typeface="Muli"/>
                <a:ea typeface="Muli"/>
                <a:cs typeface="Muli"/>
                <a:sym typeface="Muli"/>
              </a:rPr>
              <a:t>KEY FINDINGS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58325" y="1663131"/>
            <a:ext cx="5985375" cy="1217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13"/>
              </a:lnSpc>
            </a:pPr>
            <a:r>
              <a:rPr lang="en-US" sz="8185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MODEL RESULTS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958325" y="3626504"/>
            <a:ext cx="2069123" cy="206912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D31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6090"/>
                </a:lnSpc>
              </a:pPr>
              <a:r>
                <a:rPr lang="en-US" b="true" sz="420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89%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414717" y="3904392"/>
            <a:ext cx="4164850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5"/>
              </a:lnSpc>
            </a:pPr>
            <a:r>
              <a:rPr lang="en-US" sz="2100">
                <a:solidFill>
                  <a:srgbClr val="F4D314"/>
                </a:solidFill>
                <a:latin typeface="Muli"/>
                <a:ea typeface="Muli"/>
                <a:cs typeface="Muli"/>
                <a:sym typeface="Muli"/>
              </a:rPr>
              <a:t>TF-IDF ACCURACY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414717" y="4501434"/>
            <a:ext cx="3571733" cy="124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TF-IDF vectorization proved highly effective for text preprocessing, capturing key stress indicators.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958325" y="6572141"/>
            <a:ext cx="2069123" cy="206912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D31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6090"/>
                </a:lnSpc>
              </a:pPr>
              <a:r>
                <a:rPr lang="en-US" b="true" sz="420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94%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414717" y="6850029"/>
            <a:ext cx="4164850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5"/>
              </a:lnSpc>
            </a:pPr>
            <a:r>
              <a:rPr lang="en-US" sz="2100">
                <a:solidFill>
                  <a:srgbClr val="F4D314"/>
                </a:solidFill>
                <a:latin typeface="Muli"/>
                <a:ea typeface="Muli"/>
                <a:cs typeface="Muli"/>
                <a:sym typeface="Muli"/>
              </a:rPr>
              <a:t>MENTAL-BERT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414717" y="7447071"/>
            <a:ext cx="3571733" cy="124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Mental-BERT outperformed all other models in stress classification accuracy and precision.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14586" y="4273633"/>
            <a:ext cx="13658828" cy="2757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467"/>
              </a:lnSpc>
            </a:pPr>
            <a:r>
              <a:rPr lang="en-US" sz="18667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THANK YOU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53633" y="3561192"/>
            <a:ext cx="8380734" cy="626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13"/>
              </a:lnSpc>
            </a:pPr>
            <a:r>
              <a:rPr lang="en-US" sz="3595" spc="539">
                <a:solidFill>
                  <a:srgbClr val="F4D314"/>
                </a:solidFill>
                <a:latin typeface="Muli"/>
                <a:ea typeface="Muli"/>
                <a:cs typeface="Muli"/>
                <a:sym typeface="Muli"/>
              </a:rPr>
              <a:t>WE WANT TO SAY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DAHKHt2nzMg</dc:identifier>
  <dcterms:modified xsi:type="dcterms:W3CDTF">2011-08-01T06:04:30Z</dcterms:modified>
  <cp:revision>1</cp:revision>
  <dc:title>Stress Level Classification</dc:title>
</cp:coreProperties>
</file>